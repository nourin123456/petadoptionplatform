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4800" b="1">
                <a:solidFill>
                  <a:srgbClr val="6B1020"/>
                </a:solidFill>
                <a:latin typeface="Arial"/>
              </a:defRPr>
            </a:pPr>
            <a:r>
              <a:t>PET ADOPTION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4114800" cy="73152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800"/>
              </a:spcAft>
              <a:defRPr sz="2400">
                <a:solidFill>
                  <a:srgbClr val="3A1A12"/>
                </a:solidFill>
                <a:latin typeface="Arial"/>
              </a:defRPr>
            </a:pPr>
            <a:r>
              <a:t>Connecting adopters, shelters and administrators on a single platform</a:t>
            </a:r>
          </a:p>
          <a:p>
            <a:pPr>
              <a:defRPr sz="1600" i="1">
                <a:solidFill>
                  <a:srgbClr val="D2693A"/>
                </a:solidFill>
                <a:latin typeface="Arial"/>
              </a:defRPr>
            </a:pPr>
            <a:r>
              <a:t>Student: Naveena Nourin K M (MEA25MCA-2018)  |  MCA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3A1A12"/>
                </a:solidFill>
                <a:latin typeface="Arial"/>
              </a:defRPr>
            </a:pPr>
            <a:r>
              <a:t>•   Pet Adoption Platform is a centralized web-based application that simplifies and organizes the pet adoption process.</a:t>
            </a:r>
          </a:p>
          <a:p>
            <a:pPr>
              <a:spcAft>
                <a:spcPts val="2000"/>
              </a:spcAft>
              <a:defRPr sz="2000">
                <a:solidFill>
                  <a:srgbClr val="3A1A12"/>
                </a:solidFill>
                <a:latin typeface="Arial"/>
              </a:defRPr>
            </a:pPr>
            <a:r>
              <a:t>•   Connects adopters, animal shelters and administrators through a single unified digital platform.</a:t>
            </a:r>
          </a:p>
          <a:p>
            <a:pPr>
              <a:spcAft>
                <a:spcPts val="2000"/>
              </a:spcAft>
              <a:defRPr sz="2000">
                <a:solidFill>
                  <a:srgbClr val="3A1A12"/>
                </a:solidFill>
                <a:latin typeface="Arial"/>
              </a:defRPr>
            </a:pPr>
            <a:r>
              <a:t>•   Adopters browse pets, submit adoption requests, pay online (UPI / COD), and choose a delivery method.</a:t>
            </a:r>
          </a:p>
          <a:p>
            <a:pPr>
              <a:spcAft>
                <a:spcPts val="2000"/>
              </a:spcAft>
              <a:defRPr sz="2000">
                <a:solidFill>
                  <a:srgbClr val="3A1A12"/>
                </a:solidFill>
                <a:latin typeface="Arial"/>
              </a:defRPr>
            </a:pPr>
            <a:r>
              <a:t>•   Shelters manage pet listings, process requests, schedule handover dates, and update transportation status.</a:t>
            </a:r>
          </a:p>
          <a:p>
            <a:pPr>
              <a:spcAft>
                <a:spcPts val="2000"/>
              </a:spcAft>
              <a:defRPr sz="2000">
                <a:solidFill>
                  <a:srgbClr val="3A1A12"/>
                </a:solidFill>
                <a:latin typeface="Arial"/>
              </a:defRPr>
            </a:pPr>
            <a:r>
              <a:t>•   Administrator verifies and approves shelter accounts and oversees overall platform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Reduce manual communication and chaotic paperwork between adopters and rescue shelters.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Improve public accessibility to verified pet medical backgrounds and vaccination history.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Provide organized, tamper-proof adoption records with transparent status tracking.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Support secure role-based access control for Adopters, Shelters, and Administrators.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Enable transparent fixed-fee adoption processing (Flat Rs. 500 via UPI &amp; Cash on Delivery).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Coordinate delivery and transportation directly within the Shelter Module (no 3rd-party logistics needed).</a:t>
            </a:r>
          </a:p>
          <a:p>
            <a:pPr>
              <a:spcAft>
                <a:spcPts val="1600"/>
              </a:spcAft>
              <a:defRPr sz="1900">
                <a:solidFill>
                  <a:srgbClr val="3A1A12"/>
                </a:solidFill>
                <a:latin typeface="Arial"/>
              </a:defRPr>
            </a:pPr>
            <a:r>
              <a:t>•   Provide a transparent, reliable end-to-end workflow from pet browsing to physical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EXISTING SYSTEM vs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46320" cy="4389120"/>
          </a:xfrm>
          <a:prstGeom prst="roundRect">
            <a:avLst/>
          </a:prstGeom>
          <a:solidFill>
            <a:srgbClr val="FFF6EC"/>
          </a:solidFill>
          <a:ln w="19050"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800"/>
              </a:spcAft>
              <a:defRPr sz="2200" b="1">
                <a:solidFill>
                  <a:srgbClr val="6B1020"/>
                </a:solidFill>
                <a:latin typeface="Arial"/>
              </a:defRPr>
            </a:pPr>
            <a:r>
              <a:t>EXISTING SYSTEM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Manual phone &amp; paper communication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Paper-based, fragmented adoption records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Scattered pet health &amp; vaccination data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No structured or transparent online payment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Unclear application status &amp; uncertain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FFF6EC"/>
          </a:solidFill>
          <a:ln w="19050"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800"/>
              </a:spcAft>
              <a:defRPr sz="2200" b="1">
                <a:solidFill>
                  <a:srgbClr val="6B1020"/>
                </a:solidFill>
                <a:latin typeface="Arial"/>
              </a:defRPr>
            </a:pPr>
            <a:r>
              <a:t>PROPOSED SYSTEM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Centralized, responsive digital web platform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Searchable listings with standardized age &amp; vaccines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Structured online adoption request lifecycle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Transparent Flat Rs. 500 fee (UPI QR &amp; COD)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Shelter-managed delivery scheduling &amp; tracking</a:t>
            </a:r>
          </a:p>
          <a:p>
            <a:pPr>
              <a:spcAft>
                <a:spcPts val="1200"/>
              </a:spcAft>
              <a:defRPr sz="1700">
                <a:solidFill>
                  <a:srgbClr val="3A1A12"/>
                </a:solidFill>
                <a:latin typeface="Arial"/>
              </a:defRPr>
            </a:pPr>
            <a:r>
              <a:t>•  Role-based access (instant adopter, verified shelter)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Pet Browsing &amp; Search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Keyword search across pets &amp; breeds; filter by dog, cat, rabbit; structured age 1-30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Adoption Requests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Structured applicant details, delivery choice (Home Delivery / Pickup), request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Transparent Payment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Flat non-negotiable Rs. 500 adoption fee; UPI payment validation &amp; Cash on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Delivery &amp; Scheduling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Shelter schedules &amp; reschedules dates; live milestones: Pending -&gt; Scheduled -&gt; In Transit -&gt; Delivered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Role-Based Security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Adopter instant access; mandatory admin vetting for shelters; admin platform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484632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spcAft>
                <a:spcPts val="400"/>
              </a:spcAft>
              <a:defRPr sz="1800" b="1">
                <a:solidFill>
                  <a:srgbClr val="6B1020"/>
                </a:solidFill>
                <a:latin typeface="Arial"/>
              </a:defRPr>
            </a:pPr>
            <a:r>
              <a:t>Shelter &amp; Pet Hub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Rescue animal listings, automated image aspect ratio cropping, direct two-way messaging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286000" cy="128016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Adopter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Register with instant active access; browse &amp; search pets with verified medical records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Submit adoption application; pay non-negotiable flat Rs. 500 fee (UPI / COD)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Select preferred delivery method: Home Delivery or Shelter Pickup (Immutable selection)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286000" cy="128016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Shelter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1089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Register rescue organization (strictly gated by mandatory Administrator verification)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Manage pet profiles (structured age 1-30, photos, vaccination details, availability)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Review adoption applications; approve or reject; schedule delivery dates &amp; update transit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2286000" cy="128016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7548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Verify and approve / reject animal shelter registration accounts (Adopters register directly)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Audit rescue pet listings, review flagged posts, and monitor platform transactions</a:t>
            </a:r>
          </a:p>
          <a:p>
            <a:pPr>
              <a:spcAft>
                <a:spcPts val="400"/>
              </a:spcAft>
              <a:defRPr sz="1600">
                <a:solidFill>
                  <a:srgbClr val="3A1A12"/>
                </a:solidFill>
                <a:latin typeface="Arial"/>
              </a:defRPr>
            </a:pPr>
            <a:r>
              <a:t>•   Oversee system communications, support inquiries, and ensure platform safety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DATABASE TABLES (SQLite Schema)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50292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468880" cy="393192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id (PK, Integer)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fullname (Text)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email (Text, Unique)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phone (Text, 10-digits)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address (Text)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password (Hashed)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role (Adopter/Shelter/Admin)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account_status (Shelter Approval)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50292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Pets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468880" cy="393192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id (PK, Integer)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name, breed (Text)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age (Standardized 1-30)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gender (Male/Female)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vaccinated (Yes/No)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description &amp; image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status (Available/Adopted)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shelter_id (FK -&gt; users.id)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50292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Adoptions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2468880" cy="393192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id (PK, Integer)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pet_id (FK -&gt; pets.id)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adopter_id (FK -&gt; users.id)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adopter_name, phone, address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request_status (Pending/Appr/Rej)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payment_method (UPI / COD)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payment_amount (Flat Rs. 500)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payment_status &amp; refund_status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50292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rial"/>
              </a:defRPr>
            </a:pPr>
            <a:r>
              <a:t>Delivery &amp;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286000"/>
            <a:ext cx="2468880" cy="393192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37160"/>
          <a:lstStyle/>
          <a:p>
            <a:pPr algn="ctr"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transport_method (Home/Pickup)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transport_date (Shelter sets)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transport_status (Milestones)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(Pending -&gt; Delivered)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conversations table (Threads)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messages table (Chat logs)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Managed directly by Shelter</a:t>
            </a:r>
          </a:p>
          <a:p>
            <a:pPr>
              <a:spcAft>
                <a:spcPts val="600"/>
              </a:spcAft>
              <a:defRPr sz="1300">
                <a:solidFill>
                  <a:srgbClr val="3A1A12"/>
                </a:solidFill>
                <a:latin typeface="Arial"/>
              </a:defRPr>
            </a:pPr>
            <a:r>
              <a:t>•  Zero 3rd-party logistics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011680" cy="68580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645920"/>
            <a:ext cx="8138160" cy="68580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6B1020"/>
                </a:solidFill>
                <a:latin typeface="Arial"/>
              </a:defRPr>
            </a:pPr>
            <a:r>
              <a:t>HTML5, CSS3, JavaScript (ES6+), Bootstrap 5.3, Jinja2 Templates</a:t>
            </a:r>
          </a:p>
          <a:p>
            <a:pPr>
              <a:defRPr sz="1200">
                <a:solidFill>
                  <a:srgbClr val="3A1A12"/>
                </a:solidFill>
                <a:latin typeface="Arial"/>
              </a:defRPr>
            </a:pPr>
            <a:r>
              <a:t>Responsive mobile-first layout, client-side validation, interactive UI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2011680" cy="68580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560320"/>
            <a:ext cx="8138160" cy="68580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6B1020"/>
                </a:solidFill>
                <a:latin typeface="Arial"/>
              </a:defRPr>
            </a:pPr>
            <a:r>
              <a:t>Python 3.10+, Flask 2.3+, Werkzeug</a:t>
            </a:r>
          </a:p>
          <a:p>
            <a:pPr>
              <a:defRPr sz="1200">
                <a:solidFill>
                  <a:srgbClr val="3A1A12"/>
                </a:solidFill>
                <a:latin typeface="Arial"/>
              </a:defRPr>
            </a:pPr>
            <a:r>
              <a:t>Lightweight microframework handling MVC routing, secure sessions, authentication, and file uploads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2011680" cy="68580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474720"/>
            <a:ext cx="8138160" cy="68580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6B1020"/>
                </a:solidFill>
                <a:latin typeface="Arial"/>
              </a:defRPr>
            </a:pPr>
            <a:r>
              <a:t>SQLite3 (Relational Database)</a:t>
            </a:r>
          </a:p>
          <a:p>
            <a:pPr>
              <a:defRPr sz="1200">
                <a:solidFill>
                  <a:srgbClr val="3A1A12"/>
                </a:solidFill>
                <a:latin typeface="Arial"/>
              </a:defRPr>
            </a:pPr>
            <a:r>
              <a:t>ACID-compliant serverless relational database, normalized tables (3NF), foreign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89120"/>
            <a:ext cx="2011680" cy="68580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389120"/>
            <a:ext cx="8138160" cy="68580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6B1020"/>
                </a:solidFill>
                <a:latin typeface="Arial"/>
              </a:defRPr>
            </a:pPr>
            <a:r>
              <a:t>UPI (QR Code &amp; VPA Validation) &amp; Cash on Delivery (COD)</a:t>
            </a:r>
          </a:p>
          <a:p>
            <a:pPr>
              <a:defRPr sz="1200">
                <a:solidFill>
                  <a:srgbClr val="3A1A12"/>
                </a:solidFill>
                <a:latin typeface="Arial"/>
              </a:defRPr>
            </a:pPr>
            <a:r>
              <a:t>Strictly enforced transparent Flat Rs. 500 adoption fee with automated status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03520"/>
            <a:ext cx="2011680" cy="685800"/>
          </a:xfrm>
          <a:prstGeom prst="round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Tools &amp; 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5303520"/>
            <a:ext cx="8138160" cy="68580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82880"/>
          <a:lstStyle/>
          <a:p>
            <a:pPr algn="ctr">
              <a:spcAft>
                <a:spcPts val="200"/>
              </a:spcAft>
              <a:defRPr sz="1600" b="1">
                <a:solidFill>
                  <a:srgbClr val="6B1020"/>
                </a:solidFill>
                <a:latin typeface="Arial"/>
              </a:defRPr>
            </a:pPr>
            <a:r>
              <a:t>Visual Studio Code, Git &amp; GitHub, DB Browser for SQLite</a:t>
            </a:r>
          </a:p>
          <a:p>
            <a:pPr>
              <a:defRPr sz="1200">
                <a:solidFill>
                  <a:srgbClr val="3A1A12"/>
                </a:solidFill>
                <a:latin typeface="Arial"/>
              </a:defRPr>
            </a:pPr>
            <a:r>
              <a:t>Version control, relational database auditing, and modular software engineering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B1020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463040" cy="54864"/>
          </a:xfrm>
          <a:prstGeom prst="rect">
            <a:avLst/>
          </a:prstGeom>
          <a:solidFill>
            <a:srgbClr val="D2693A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Mobile Application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Develop cross-platform native iOS &amp; Android applications using Flutter for on-the-go browsing and real-time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Real-Time Notifications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Integrate automated SMS, WhatsApp, and push notifications for instant adoption updates and transit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5468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Multi-Payment Gateway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Incorporate commercial payment gateways (Razorpay, Stripe) supporting Net Banking, Credit/Debit cards, and Wallets.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5468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Pet Health &amp; Vet Records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Digital pet health cards, automated vaccination reminders, and telemedicine vet consultation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Shelter Rating &amp; Feedback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Public adopter reviews, feedback forums, and verified community rating system to encourage ethical shelter practices.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029200" cy="1280160"/>
          </a:xfrm>
          <a:prstGeom prst="roundRect">
            <a:avLst/>
          </a:prstGeom>
          <a:solidFill>
            <a:srgbClr val="FFF6EC"/>
          </a:solidFill>
          <a:ln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spcAft>
                <a:spcPts val="400"/>
              </a:spcAft>
              <a:defRPr sz="1700" b="1">
                <a:solidFill>
                  <a:srgbClr val="6B1020"/>
                </a:solidFill>
                <a:latin typeface="Arial"/>
              </a:defRPr>
            </a:pPr>
            <a:r>
              <a:t>🐾  Analytics Dashboard</a:t>
            </a:r>
          </a:p>
          <a:p>
            <a:pPr>
              <a:defRPr sz="1300">
                <a:solidFill>
                  <a:srgbClr val="3A1A12"/>
                </a:solidFill>
                <a:latin typeface="Arial"/>
              </a:defRPr>
            </a:pPr>
            <a:r>
              <a:t>Comprehensive analytics suite providing shelters with insights on adoption velocity, return rates, and breed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BDC"/>
          </a:solidFill>
          <a:ln>
            <a:solidFill>
              <a:srgbClr val="FD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52190" y="731520"/>
            <a:ext cx="5486400" cy="5303520"/>
          </a:xfrm>
          <a:prstGeom prst="ellipse">
            <a:avLst/>
          </a:prstGeom>
          <a:solidFill>
            <a:srgbClr val="FFF6EC"/>
          </a:solidFill>
          <a:ln w="25400">
            <a:solidFill>
              <a:srgbClr val="D26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0" y="20116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4800" b="1">
                <a:solidFill>
                  <a:srgbClr val="6B1020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Aft>
                <a:spcPts val="2400"/>
              </a:spcAft>
              <a:defRPr sz="2200">
                <a:solidFill>
                  <a:srgbClr val="D2693A"/>
                </a:solidFill>
                <a:latin typeface="Arial"/>
              </a:defRPr>
            </a:pPr>
            <a:r>
              <a:t>Any Questions or Feedback?</a:t>
            </a:r>
          </a:p>
          <a:p>
            <a:pPr algn="ctr">
              <a:defRPr sz="1400">
                <a:solidFill>
                  <a:srgbClr val="3A1A12"/>
                </a:solidFill>
                <a:latin typeface="Arial"/>
              </a:defRPr>
            </a:pPr>
            <a:r>
              <a:t>NAVEENA NOURIN K M (MEA25MCA-2018)</a:t>
            </a:r>
            <a:br/>
            <a:r>
              <a:t>Department of Computer Applications</a:t>
            </a:r>
            <a:br/>
            <a:r>
              <a:t>MEA Engineering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